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3663"/>
          </a:solidFill>
          <a:ln>
            <a:solidFill>
              <a:srgbClr val="0A3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SMART INDIA HACKATHON 2026</a:t>
            </a:r>
          </a:p>
          <a:p>
            <a:pPr algn="ctr">
              <a:defRPr sz="950">
                <a:solidFill>
                  <a:srgbClr val="BEDCFF"/>
                </a:solidFill>
              </a:defRPr>
            </a:pPr>
            <a:r>
              <a:t>IDEAS • INTELLIGENCE • IMPACT — TECH FOR A FAIRER MARKET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6858000" cy="4892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A3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0A3663"/>
                </a:solidFill>
              </a:defRPr>
            </a:pPr>
            <a:r>
              <a:t>INSPACK 🛡️📦</a:t>
            </a:r>
          </a:p>
          <a:p>
            <a:pPr>
              <a:defRPr sz="1100" b="1">
                <a:solidFill>
                  <a:srgbClr val="0F766E"/>
                </a:solidFill>
              </a:defRPr>
            </a:pPr>
            <a:r>
              <a:t>AI-Based Legal Metrology Packaged Commodities Compliance &amp; Inspection System</a:t>
            </a:r>
          </a:p>
          <a:p>
            <a:pPr>
              <a:defRPr sz="900" b="1">
                <a:solidFill>
                  <a:srgbClr val="0A3663"/>
                </a:solidFill>
              </a:defRPr>
            </a:pPr>
            <a:r>
              <a:t>• Problem Statement ID: 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   SIH-26034</a:t>
            </a:r>
          </a:p>
          <a:p>
            <a:pPr>
              <a:defRPr sz="900" b="1">
                <a:solidFill>
                  <a:srgbClr val="0A3663"/>
                </a:solidFill>
              </a:defRPr>
            </a:pPr>
            <a:r>
              <a:t>• Problem Statement Title: 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   Software System to check compliance of Packaged Commodities under the Legal Metrology (Packaged Commodities) Rules, 2011 by scanning products, images and labels</a:t>
            </a:r>
          </a:p>
          <a:p>
            <a:pPr>
              <a:defRPr sz="900" b="1">
                <a:solidFill>
                  <a:srgbClr val="0A3663"/>
                </a:solidFill>
              </a:defRPr>
            </a:pPr>
            <a:r>
              <a:t>• Ministry / Organization: 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   Ministry of Consumer Affairs, Food &amp; Public Distribution — Department of Consumer Affairs / Legal Metrology Division</a:t>
            </a:r>
          </a:p>
          <a:p>
            <a:pPr>
              <a:defRPr sz="900" b="1">
                <a:solidFill>
                  <a:srgbClr val="0A3663"/>
                </a:solidFill>
              </a:defRPr>
            </a:pPr>
            <a:r>
              <a:t>• Theme: 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   Agriculture, FoodTech &amp; Rural Development / Public Governance</a:t>
            </a:r>
          </a:p>
          <a:p>
            <a:pPr>
              <a:defRPr sz="900" b="1">
                <a:solidFill>
                  <a:srgbClr val="0A3663"/>
                </a:solidFill>
              </a:defRPr>
            </a:pPr>
            <a:r>
              <a:t>• Category: 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   Software (AI Computer Vision + Deterministic Legal Rules Engine)</a:t>
            </a:r>
          </a:p>
          <a:p>
            <a:pPr>
              <a:defRPr sz="900" b="1">
                <a:solidFill>
                  <a:srgbClr val="0A3663"/>
                </a:solidFill>
              </a:defRPr>
            </a:pPr>
            <a:r>
              <a:t>• Live Prototype URL: 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   https://inspacknksih2026.vercel.app/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79" y="1371600"/>
            <a:ext cx="4206240" cy="48920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04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4F9E"/>
                </a:solidFill>
              </a:defRPr>
            </a:pPr>
            <a:r>
              <a:t>TEAM: NEURAL KNIGHTS</a:t>
            </a:r>
          </a:p>
          <a:p>
            <a:pPr>
              <a:defRPr sz="850" b="1">
                <a:solidFill>
                  <a:srgbClr val="64748B"/>
                </a:solidFill>
              </a:defRPr>
            </a:pPr>
            <a:r>
              <a:t>Chaitanya Bharathi Institute of Technology (CBIT), Hyderabad</a:t>
            </a:r>
          </a:p>
          <a:p>
            <a:pPr>
              <a:defRPr sz="750" i="1">
                <a:solidFill>
                  <a:srgbClr val="64748B"/>
                </a:solidFill>
              </a:defRPr>
            </a:pPr>
            <a:r>
              <a:t>AICTE Reg: 1-44641605560 • Nominated by Principal CBIT</a:t>
            </a:r>
          </a:p>
          <a:p>
            <a:pPr>
              <a:defRPr sz="850" b="1">
                <a:solidFill>
                  <a:srgbClr val="0F766E"/>
                </a:solidFill>
              </a:defRPr>
            </a:pPr>
            <a:r>
              <a:t>— Team Roster —</a:t>
            </a:r>
          </a:p>
          <a:p>
            <a:pPr>
              <a:defRPr sz="850" b="1">
                <a:solidFill>
                  <a:srgbClr val="0F172A"/>
                </a:solidFill>
              </a:defRPr>
            </a:pPr>
            <a:r>
              <a:t>👤 Shaik Saleem (Team Leader)</a:t>
            </a:r>
          </a:p>
          <a:p>
            <a:pPr>
              <a:defRPr sz="750">
                <a:solidFill>
                  <a:srgbClr val="64748B"/>
                </a:solidFill>
              </a:defRPr>
            </a:pPr>
            <a:r>
              <a:t>    Roll: 160124771129 | B.E AIDS-2, 3rd Year</a:t>
            </a:r>
          </a:p>
          <a:p>
            <a:pPr>
              <a:defRPr sz="850" b="1">
                <a:solidFill>
                  <a:srgbClr val="0F172A"/>
                </a:solidFill>
              </a:defRPr>
            </a:pPr>
            <a:r>
              <a:t>👤 D. Rishwanth Reddy</a:t>
            </a:r>
          </a:p>
          <a:p>
            <a:pPr>
              <a:defRPr sz="750">
                <a:solidFill>
                  <a:srgbClr val="64748B"/>
                </a:solidFill>
              </a:defRPr>
            </a:pPr>
            <a:r>
              <a:t>    Roll: 160124771105 | B.E AIDS-2, 3rd Year</a:t>
            </a:r>
          </a:p>
          <a:p>
            <a:pPr>
              <a:defRPr sz="850" b="1">
                <a:solidFill>
                  <a:srgbClr val="0F172A"/>
                </a:solidFill>
              </a:defRPr>
            </a:pPr>
            <a:r>
              <a:t>👤 Dasari Hitharth</a:t>
            </a:r>
          </a:p>
          <a:p>
            <a:pPr>
              <a:defRPr sz="750">
                <a:solidFill>
                  <a:srgbClr val="64748B"/>
                </a:solidFill>
              </a:defRPr>
            </a:pPr>
            <a:r>
              <a:t>    Roll: 160124771106 | B.E AIDS-2, 3rd Year</a:t>
            </a:r>
          </a:p>
          <a:p>
            <a:pPr>
              <a:defRPr sz="850" b="1">
                <a:solidFill>
                  <a:srgbClr val="0F172A"/>
                </a:solidFill>
              </a:defRPr>
            </a:pPr>
            <a:r>
              <a:t>👤 Pachimatla Hasini</a:t>
            </a:r>
          </a:p>
          <a:p>
            <a:pPr>
              <a:defRPr sz="750">
                <a:solidFill>
                  <a:srgbClr val="64748B"/>
                </a:solidFill>
              </a:defRPr>
            </a:pPr>
            <a:r>
              <a:t>    Roll: 160124771084 | B.E AIDS-2, 3rd Year</a:t>
            </a:r>
          </a:p>
          <a:p>
            <a:pPr>
              <a:defRPr sz="850" b="1">
                <a:solidFill>
                  <a:srgbClr val="0F172A"/>
                </a:solidFill>
              </a:defRPr>
            </a:pPr>
            <a:r>
              <a:t>👤 B. Venkat Sai Ram</a:t>
            </a:r>
          </a:p>
          <a:p>
            <a:pPr>
              <a:defRPr sz="750">
                <a:solidFill>
                  <a:srgbClr val="64748B"/>
                </a:solidFill>
              </a:defRPr>
            </a:pPr>
            <a:r>
              <a:t>    Roll: 160125733151 | B.E CSE-3, 2nd Year</a:t>
            </a:r>
          </a:p>
          <a:p>
            <a:pPr>
              <a:defRPr sz="850" b="1">
                <a:solidFill>
                  <a:srgbClr val="0F172A"/>
                </a:solidFill>
              </a:defRPr>
            </a:pPr>
            <a:r>
              <a:t>👤 G. Rohith Nandhan</a:t>
            </a:r>
          </a:p>
          <a:p>
            <a:pPr>
              <a:defRPr sz="750">
                <a:solidFill>
                  <a:srgbClr val="64748B"/>
                </a:solidFill>
              </a:defRPr>
            </a:pPr>
            <a:r>
              <a:t>    Roll: 160125733158 | B.E CSE-3, 2nd Year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F9E"/>
          </a:solidFill>
          <a:ln>
            <a:solidFill>
              <a:srgbClr val="004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>
                <a:solidFill>
                  <a:srgbClr val="FFFFFF"/>
                </a:solidFill>
              </a:defRPr>
            </a:pPr>
            <a:r>
              <a:t>@SIH Idea submission - Template | Title Page | Problem Statement ID: SIH-26034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3663"/>
          </a:solidFill>
          <a:ln>
            <a:solidFill>
              <a:srgbClr val="0A3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64592"/>
            <a:ext cx="210312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A3663"/>
                </a:solidFill>
              </a:defRPr>
            </a:pPr>
            <a:r>
              <a:t>Team: Neural Knights</a:t>
            </a:r>
          </a:p>
          <a:p>
            <a:pPr algn="ctr">
              <a:defRPr sz="800">
                <a:solidFill>
                  <a:srgbClr val="64748B"/>
                </a:solidFill>
              </a:defRPr>
            </a:pPr>
            <a:r>
              <a:t>CBIT, Hyderabad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51760" y="137160"/>
            <a:ext cx="6949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IDEA TITLE: INSPACK — PROPOSED SOLUTION</a:t>
            </a:r>
          </a:p>
          <a:p>
            <a:pPr>
              <a:defRPr sz="950">
                <a:solidFill>
                  <a:srgbClr val="BEDCFF"/>
                </a:solidFill>
              </a:defRPr>
            </a:pPr>
            <a:r>
              <a:t>Proposed Solution (Describe your Idea / Solution / Prototype)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164592"/>
            <a:ext cx="201168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4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4F9E"/>
                </a:solidFill>
              </a:defRPr>
            </a:pPr>
            <a:r>
              <a:t>SMART INDIA</a:t>
            </a:r>
          </a:p>
          <a:p>
            <a:pPr algn="ctr">
              <a:defRPr sz="850" b="1">
                <a:solidFill>
                  <a:srgbClr val="0A3663"/>
                </a:solidFill>
              </a:defRPr>
            </a:pPr>
            <a:r>
              <a:t>HACKATHON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F9E"/>
          </a:solidFill>
          <a:ln>
            <a:solidFill>
              <a:srgbClr val="004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>
                <a:solidFill>
                  <a:srgbClr val="FFFFFF"/>
                </a:solidFill>
              </a:defRPr>
            </a:pPr>
            <a:r>
              <a:t>@SIH Idea submission - Template  |  INSPACK: Software System to check compliance of Packaged Commodities (LMPC Rules, 2011)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4F9E"/>
                </a:solidFill>
              </a:defRPr>
            </a:pPr>
            <a:r>
              <a:t>❖ Detailed explanation of proposed solution  •  How it addresses the problem  •  Innovation and uniqueness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508760"/>
            <a:ext cx="7589520" cy="2651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A3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A3663"/>
                </a:solidFill>
              </a:defRPr>
            </a:pPr>
            <a:r>
              <a:t>AUTOMATED 5-STAGE INSPECTION WORKFLOW</a:t>
            </a:r>
          </a:p>
          <a:p>
            <a:pPr>
              <a:defRPr sz="850" b="1">
                <a:solidFill>
                  <a:srgbClr val="0F766E"/>
                </a:solidFill>
              </a:defRPr>
            </a:pPr>
            <a:r>
              <a:t>▶ 1. Multi-View Capture: </a:t>
            </a:r>
          </a:p>
          <a:p>
            <a:pPr>
              <a:defRPr sz="800">
                <a:solidFill>
                  <a:srgbClr val="0F172A"/>
                </a:solidFill>
              </a:defRPr>
            </a:pPr>
            <a:r>
              <a:t>    Front PDP, Back declarations, Side batch panels captured via guided camera.</a:t>
            </a:r>
          </a:p>
          <a:p>
            <a:pPr>
              <a:defRPr sz="850" b="1">
                <a:solidFill>
                  <a:srgbClr val="0F766E"/>
                </a:solidFill>
              </a:defRPr>
            </a:pPr>
            <a:r>
              <a:t>▶ 2. Visual Extraction: </a:t>
            </a:r>
          </a:p>
          <a:p>
            <a:pPr>
              <a:defRPr sz="800">
                <a:solidFill>
                  <a:srgbClr val="0F172A"/>
                </a:solidFill>
              </a:defRPr>
            </a:pPr>
            <a:r>
              <a:t>    Extracts 20+ statutory entities (Net Mass, SI Units, MRP, Dates, PIN, Consumer Care).</a:t>
            </a:r>
          </a:p>
          <a:p>
            <a:pPr>
              <a:defRPr sz="850" b="1">
                <a:solidFill>
                  <a:srgbClr val="0F766E"/>
                </a:solidFill>
              </a:defRPr>
            </a:pPr>
            <a:r>
              <a:t>▶ 3. Deterministic Rules: </a:t>
            </a:r>
          </a:p>
          <a:p>
            <a:pPr>
              <a:defRPr sz="800">
                <a:solidFill>
                  <a:srgbClr val="0F172A"/>
                </a:solidFill>
              </a:defRPr>
            </a:pPr>
            <a:r>
              <a:t>    Evaluates against LMPC Rules 6, 7, 8, 9, 10, 13, 18, 22 and Second Schedule.</a:t>
            </a:r>
          </a:p>
          <a:p>
            <a:pPr>
              <a:defRPr sz="850" b="1">
                <a:solidFill>
                  <a:srgbClr val="0F766E"/>
                </a:solidFill>
              </a:defRPr>
            </a:pPr>
            <a:r>
              <a:t>▶ 4. Evidence Overlay: </a:t>
            </a:r>
          </a:p>
          <a:p>
            <a:pPr>
              <a:defRPr sz="800">
                <a:solidFill>
                  <a:srgbClr val="0F172A"/>
                </a:solidFill>
              </a:defRPr>
            </a:pPr>
            <a:r>
              <a:t>    Renders interactive bounding boxes directly on packaging with exact gazette citations.</a:t>
            </a:r>
          </a:p>
          <a:p>
            <a:pPr>
              <a:defRPr sz="850" b="1">
                <a:solidFill>
                  <a:srgbClr val="0F766E"/>
                </a:solidFill>
              </a:defRPr>
            </a:pPr>
            <a:r>
              <a:t>▶ 5. Statutory Report: </a:t>
            </a:r>
          </a:p>
          <a:p>
            <a:pPr>
              <a:defRPr sz="800">
                <a:solidFill>
                  <a:srgbClr val="0F172A"/>
                </a:solidFill>
              </a:defRPr>
            </a:pPr>
            <a:r>
              <a:t>    1-Click Seventh Schedule Form A &amp; Form B PDF dossier with Section 65B certificate.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4251960"/>
            <a:ext cx="7589520" cy="2148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766E"/>
                </a:solidFill>
              </a:defRPr>
            </a:pPr>
            <a:r>
              <a:t>CORE INNOVATION: EXPLAINABLE DECISION SUPPORT</a:t>
            </a:r>
          </a:p>
          <a:p>
            <a:pPr>
              <a:defRPr sz="850" b="1">
                <a:solidFill>
                  <a:srgbClr val="0A3663"/>
                </a:solidFill>
              </a:defRPr>
            </a:pPr>
            <a:r>
              <a:t>★ Beyond Raw OCR: </a:t>
            </a:r>
          </a:p>
          <a:p>
            <a:pPr>
              <a:defRPr sz="800">
                <a:solidFill>
                  <a:srgbClr val="0F172A"/>
                </a:solidFill>
              </a:defRPr>
            </a:pPr>
            <a:r>
              <a:t>   Existing OCR only extracts text. INSPACK connects what is printed to the legal requirement an officer must verify.</a:t>
            </a:r>
          </a:p>
          <a:p>
            <a:pPr>
              <a:defRPr sz="850" b="1">
                <a:solidFill>
                  <a:srgbClr val="0A3663"/>
                </a:solidFill>
              </a:defRPr>
            </a:pPr>
            <a:r>
              <a:t>★ Deterministic Law: </a:t>
            </a:r>
          </a:p>
          <a:p>
            <a:pPr>
              <a:defRPr sz="800">
                <a:solidFill>
                  <a:srgbClr val="0F172A"/>
                </a:solidFill>
              </a:defRPr>
            </a:pPr>
            <a:r>
              <a:t>   Zero AI hallucination risk in statutory checks. Evaluates Table-I numeral heights, standard pack sizes, and MPE thresholds deterministically.</a:t>
            </a:r>
          </a:p>
          <a:p>
            <a:pPr>
              <a:defRPr sz="850" b="1">
                <a:solidFill>
                  <a:srgbClr val="0A3663"/>
                </a:solidFill>
              </a:defRPr>
            </a:pPr>
            <a:r>
              <a:t>★ Inspection-Support: </a:t>
            </a:r>
          </a:p>
          <a:p>
            <a:pPr>
              <a:defRPr sz="800">
                <a:solidFill>
                  <a:srgbClr val="0F172A"/>
                </a:solidFill>
              </a:defRPr>
            </a:pPr>
            <a:r>
              <a:t>   Does NOT replace the enforcement officer. Generates objective, tamper-evident digital findings to accelerate field seizure decisions.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508760"/>
            <a:ext cx="3657600" cy="4892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A3663"/>
                </a:solidFill>
              </a:defRPr>
            </a:pPr>
            <a:r>
              <a:t>PROTOTYPE TEST SHOWCASE</a:t>
            </a:r>
          </a:p>
          <a:p>
            <a:pPr>
              <a:defRPr sz="900" b="1">
                <a:solidFill>
                  <a:srgbClr val="DC2626"/>
                </a:solidFill>
              </a:defRPr>
            </a:pPr>
            <a:r>
              <a:t>Amul Taaza Toned Milk (1 L Pouch)</a:t>
            </a:r>
          </a:p>
        </p:txBody>
      </p:sp>
      <p:pic>
        <p:nvPicPr>
          <p:cNvPr id="11" name="Picture 10" descr="amul-taaza-fro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2148840"/>
            <a:ext cx="1463040" cy="2389632"/>
          </a:xfrm>
          <a:prstGeom prst="rect">
            <a:avLst/>
          </a:prstGeom>
        </p:spPr>
      </p:pic>
      <p:pic>
        <p:nvPicPr>
          <p:cNvPr id="12" name="Picture 11" descr="amul-taaza-b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2148840"/>
            <a:ext cx="1463040" cy="1600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600" y="3840480"/>
            <a:ext cx="34747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800" b="1">
                <a:solidFill>
                  <a:srgbClr val="DC2626"/>
                </a:solidFill>
              </a:defRPr>
            </a:pPr>
            <a:r>
              <a:t>• Overall Status: </a:t>
            </a:r>
          </a:p>
          <a:p>
            <a:pPr>
              <a:defRPr sz="750">
                <a:solidFill>
                  <a:srgbClr val="0F172A"/>
                </a:solidFill>
              </a:defRPr>
            </a:pPr>
            <a:r>
              <a:t>   NON-COMPLIANT (Score: 72/100)</a:t>
            </a:r>
          </a:p>
          <a:p>
            <a:pPr>
              <a:defRPr sz="800" b="1">
                <a:solidFill>
                  <a:srgbClr val="DC2626"/>
                </a:solidFill>
              </a:defRPr>
            </a:pPr>
            <a:r>
              <a:t>• Rule 7 Violation: </a:t>
            </a:r>
          </a:p>
          <a:p>
            <a:pPr>
              <a:defRPr sz="750">
                <a:solidFill>
                  <a:srgbClr val="0F172A"/>
                </a:solidFill>
              </a:defRPr>
            </a:pPr>
            <a:r>
              <a:t>   MRP numeral height is 2.2mm. Mandated minimum under Table I for &gt;500ml is 4.0mm.</a:t>
            </a:r>
          </a:p>
          <a:p>
            <a:pPr>
              <a:defRPr sz="800" b="1">
                <a:solidFill>
                  <a:srgbClr val="D97706"/>
                </a:solidFill>
              </a:defRPr>
            </a:pPr>
            <a:r>
              <a:t>• Rule 6(2) Warning: </a:t>
            </a:r>
          </a:p>
          <a:p>
            <a:pPr>
              <a:defRPr sz="750">
                <a:solidFill>
                  <a:srgbClr val="0F172A"/>
                </a:solidFill>
              </a:defRPr>
            </a:pPr>
            <a:r>
              <a:t>   Toll-free phone present, but mandatory consumer care email missing.</a:t>
            </a:r>
          </a:p>
          <a:p>
            <a:pPr>
              <a:defRPr sz="800" b="1">
                <a:solidFill>
                  <a:srgbClr val="0A3663"/>
                </a:solidFill>
              </a:defRPr>
            </a:pPr>
            <a:r>
              <a:t>• Rule 32 Penalty: </a:t>
            </a:r>
          </a:p>
          <a:p>
            <a:pPr>
              <a:defRPr sz="750">
                <a:solidFill>
                  <a:srgbClr val="0F172A"/>
                </a:solidFill>
              </a:defRPr>
            </a:pPr>
            <a:r>
              <a:t>   Compounding fine calculated: Rs. 2,000.</a:t>
            </a:r>
          </a:p>
          <a:p>
            <a:pPr>
              <a:defRPr sz="800" b="1">
                <a:solidFill>
                  <a:srgbClr val="16A34A"/>
                </a:solidFill>
              </a:defRPr>
            </a:pPr>
            <a:r>
              <a:t>• Form Generated: </a:t>
            </a:r>
          </a:p>
          <a:p>
            <a:pPr>
              <a:defRPr sz="750">
                <a:solidFill>
                  <a:srgbClr val="0F172A"/>
                </a:solidFill>
              </a:defRPr>
            </a:pPr>
            <a:r>
              <a:t>   Seventh Schedule Form B (Volume Checking Sheet) ready with 1-click download.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3663"/>
          </a:solidFill>
          <a:ln>
            <a:solidFill>
              <a:srgbClr val="0A3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64592"/>
            <a:ext cx="210312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A3663"/>
                </a:solidFill>
              </a:defRPr>
            </a:pPr>
            <a:r>
              <a:t>Team: Neural Knights</a:t>
            </a:r>
          </a:p>
          <a:p>
            <a:pPr algn="ctr">
              <a:defRPr sz="800">
                <a:solidFill>
                  <a:srgbClr val="64748B"/>
                </a:solidFill>
              </a:defRPr>
            </a:pPr>
            <a:r>
              <a:t>CBIT, Hyderabad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51760" y="137160"/>
            <a:ext cx="6949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TECHNICAL APPROACH</a:t>
            </a:r>
          </a:p>
          <a:p>
            <a:pPr>
              <a:defRPr sz="950">
                <a:solidFill>
                  <a:srgbClr val="BEDCFF"/>
                </a:solidFill>
              </a:defRPr>
            </a:pPr>
            <a:r>
              <a:t>Technologies Used • Methodology &amp; Architecture • Working Prototype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164592"/>
            <a:ext cx="201168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4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4F9E"/>
                </a:solidFill>
              </a:defRPr>
            </a:pPr>
            <a:r>
              <a:t>SMART INDIA</a:t>
            </a:r>
          </a:p>
          <a:p>
            <a:pPr algn="ctr">
              <a:defRPr sz="850" b="1">
                <a:solidFill>
                  <a:srgbClr val="0A3663"/>
                </a:solidFill>
              </a:defRPr>
            </a:pPr>
            <a:r>
              <a:t>HACKATHON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F9E"/>
          </a:solidFill>
          <a:ln>
            <a:solidFill>
              <a:srgbClr val="004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>
                <a:solidFill>
                  <a:srgbClr val="FFFFFF"/>
                </a:solidFill>
              </a:defRPr>
            </a:pPr>
            <a:r>
              <a:t>@SIH Idea submission - Template  |  INSPACK: Software System to check compliance of Packaged Commodities (LMPC Rules, 2011)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4F9E"/>
                </a:solidFill>
              </a:defRPr>
            </a:pPr>
            <a:r>
              <a:t>❖ Technologies to be used (programming languages, frameworks, hardware)  •  Methodology and process 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508760"/>
            <a:ext cx="6858000" cy="4892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A3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A3663"/>
                </a:solidFill>
              </a:defRPr>
            </a:pPr>
            <a:r>
              <a:t>5-TIER LAYERED SYSTEM ARCHITECTURE</a:t>
            </a:r>
          </a:p>
          <a:p>
            <a:pPr>
              <a:defRPr sz="850" b="1">
                <a:solidFill>
                  <a:srgbClr val="0F766E"/>
                </a:solidFill>
              </a:defRPr>
            </a:pPr>
            <a:r>
              <a:t>■ Tier 1: Field Client Presentation Layer</a:t>
            </a:r>
          </a:p>
          <a:p>
            <a:pPr>
              <a:defRPr sz="800">
                <a:solidFill>
                  <a:srgbClr val="0F172A"/>
                </a:solidFill>
              </a:defRPr>
            </a:pPr>
            <a:r>
              <a:t>    Responsive PWA &amp; Mobile App with on-screen PDP guides, torch toggle, and local offline cache.</a:t>
            </a:r>
          </a:p>
          <a:p>
            <a:pPr>
              <a:defRPr sz="850" b="1">
                <a:solidFill>
                  <a:srgbClr val="0F766E"/>
                </a:solidFill>
              </a:defRPr>
            </a:pPr>
            <a:r>
              <a:t>■ Tier 2: Pre-Processing &amp; Quality Filter</a:t>
            </a:r>
          </a:p>
          <a:p>
            <a:pPr>
              <a:defRPr sz="800">
                <a:solidFill>
                  <a:srgbClr val="0F172A"/>
                </a:solidFill>
              </a:defRPr>
            </a:pPr>
            <a:r>
              <a:t>    HTML5 Canvas luminance leveling, contrast stretching, and Laplacian blur variance test (warns if blurry).</a:t>
            </a:r>
          </a:p>
          <a:p>
            <a:pPr>
              <a:defRPr sz="850" b="1">
                <a:solidFill>
                  <a:srgbClr val="0F766E"/>
                </a:solidFill>
              </a:defRPr>
            </a:pPr>
            <a:r>
              <a:t>■ Tier 3: Vision &amp; Legal Entity Extraction</a:t>
            </a:r>
          </a:p>
          <a:p>
            <a:pPr>
              <a:defRPr sz="800">
                <a:solidFill>
                  <a:srgbClr val="0F172A"/>
                </a:solidFill>
              </a:defRPr>
            </a:pPr>
            <a:r>
              <a:t>    Prototype: Gemini Multimodal Vision API. Production: Sovereign Document AI / OCR hosted on NIC MeghRaj.</a:t>
            </a:r>
          </a:p>
          <a:p>
            <a:pPr>
              <a:defRPr sz="850" b="1">
                <a:solidFill>
                  <a:srgbClr val="0F766E"/>
                </a:solidFill>
              </a:defRPr>
            </a:pPr>
            <a:r>
              <a:t>■ Tier 4: Deterministic Statutory Rules Engine</a:t>
            </a:r>
          </a:p>
          <a:p>
            <a:pPr>
              <a:defRPr sz="800">
                <a:solidFill>
                  <a:srgbClr val="0F172A"/>
                </a:solidFill>
              </a:defRPr>
            </a:pPr>
            <a:r>
              <a:t>    Pure rule service validating Rules 6, 7, 8, 9, 10, 13, 18, 22, and Schedules I &amp; II with zero hallucination.</a:t>
            </a:r>
          </a:p>
          <a:p>
            <a:pPr>
              <a:defRPr sz="850" b="1">
                <a:solidFill>
                  <a:srgbClr val="0F766E"/>
                </a:solidFill>
              </a:defRPr>
            </a:pPr>
            <a:r>
              <a:t>■ Tier 5: Evidence, Dossier &amp; Repository</a:t>
            </a:r>
          </a:p>
          <a:p>
            <a:pPr>
              <a:defRPr sz="800">
                <a:solidFill>
                  <a:srgbClr val="0F172A"/>
                </a:solidFill>
              </a:defRPr>
            </a:pPr>
            <a:r>
              <a:t>    Client-side jsPDF compiles Seventh Schedule Form A &amp; B sheets. LocalStorage + Cloud Firestore synchronization.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1508760"/>
            <a:ext cx="4389120" cy="2377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04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4F9E"/>
                </a:solidFill>
              </a:defRPr>
            </a:pPr>
            <a:r>
              <a:t>TECHNOLOGY STACK MAPPING</a:t>
            </a:r>
          </a:p>
          <a:p>
            <a:pPr>
              <a:defRPr sz="800" b="1">
                <a:solidFill>
                  <a:srgbClr val="0A3663"/>
                </a:solidFill>
              </a:defRPr>
            </a:pPr>
            <a:r>
              <a:t>• Frontend Client: </a:t>
            </a:r>
          </a:p>
          <a:p>
            <a:pPr>
              <a:defRPr sz="750">
                <a:solidFill>
                  <a:srgbClr val="0F172A"/>
                </a:solidFill>
              </a:defRPr>
            </a:pPr>
            <a:r>
              <a:t>   React 19, TypeScript, Vite, Tailwind CSS v4, Lucide</a:t>
            </a:r>
          </a:p>
          <a:p>
            <a:pPr>
              <a:defRPr sz="800" b="1">
                <a:solidFill>
                  <a:srgbClr val="0A3663"/>
                </a:solidFill>
              </a:defRPr>
            </a:pPr>
            <a:r>
              <a:t>• Offline Edge OCR: </a:t>
            </a:r>
          </a:p>
          <a:p>
            <a:pPr>
              <a:defRPr sz="750">
                <a:solidFill>
                  <a:srgbClr val="0F172A"/>
                </a:solidFill>
              </a:defRPr>
            </a:pPr>
            <a:r>
              <a:t>   Tesseract.js Web Worker + HTML5 Canvas Pre-processing</a:t>
            </a:r>
          </a:p>
          <a:p>
            <a:pPr>
              <a:defRPr sz="800" b="1">
                <a:solidFill>
                  <a:srgbClr val="0A3663"/>
                </a:solidFill>
              </a:defRPr>
            </a:pPr>
            <a:r>
              <a:t>• Multimodal Vision: </a:t>
            </a:r>
          </a:p>
          <a:p>
            <a:pPr>
              <a:defRPr sz="750">
                <a:solidFill>
                  <a:srgbClr val="0F172A"/>
                </a:solidFill>
              </a:defRPr>
            </a:pPr>
            <a:r>
              <a:t>   Google Gemini Vision (Prototype) ➔ Sovereign NIC AI (Final)</a:t>
            </a:r>
          </a:p>
          <a:p>
            <a:pPr>
              <a:defRPr sz="800" b="1">
                <a:solidFill>
                  <a:srgbClr val="0A3663"/>
                </a:solidFill>
              </a:defRPr>
            </a:pPr>
            <a:r>
              <a:t>• Statutory Dossier: </a:t>
            </a:r>
          </a:p>
          <a:p>
            <a:pPr>
              <a:defRPr sz="750">
                <a:solidFill>
                  <a:srgbClr val="0F172A"/>
                </a:solidFill>
              </a:defRPr>
            </a:pPr>
            <a:r>
              <a:t>   jsPDF + jsPDF-AutoTable (Official Form A &amp; B generator)</a:t>
            </a:r>
          </a:p>
          <a:p>
            <a:pPr>
              <a:defRPr sz="800" b="1">
                <a:solidFill>
                  <a:srgbClr val="0A3663"/>
                </a:solidFill>
              </a:defRPr>
            </a:pPr>
            <a:r>
              <a:t>• Data Persistence: </a:t>
            </a:r>
          </a:p>
          <a:p>
            <a:pPr>
              <a:defRPr sz="750">
                <a:solidFill>
                  <a:srgbClr val="0F172A"/>
                </a:solidFill>
              </a:defRPr>
            </a:pPr>
            <a:r>
              <a:t>   IndexedDB / LocalStorage (Local-First) + Cloud Firestore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4023360"/>
            <a:ext cx="438912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766E"/>
                </a:solidFill>
              </a:defRPr>
            </a:pPr>
            <a:r>
              <a:t>STATUTORY LEGAL RULES CODIFIED</a:t>
            </a:r>
          </a:p>
          <a:p>
            <a:pPr>
              <a:defRPr sz="780" b="1">
                <a:solidFill>
                  <a:srgbClr val="0A3663"/>
                </a:solidFill>
              </a:defRPr>
            </a:pPr>
            <a:r>
              <a:t>✔ Rule 6(1)(a-g): </a:t>
            </a:r>
          </a:p>
          <a:p>
            <a:pPr>
              <a:defRPr sz="730">
                <a:solidFill>
                  <a:srgbClr val="0F172A"/>
                </a:solidFill>
              </a:defRPr>
            </a:pPr>
            <a:r>
              <a:t>    Mandatory Name, Address, Net Qty, Dates, MRP, Batch</a:t>
            </a:r>
          </a:p>
          <a:p>
            <a:pPr>
              <a:defRPr sz="780" b="1">
                <a:solidFill>
                  <a:srgbClr val="0A3663"/>
                </a:solidFill>
              </a:defRPr>
            </a:pPr>
            <a:r>
              <a:t>✔ Rule 7 Table I: </a:t>
            </a:r>
          </a:p>
          <a:p>
            <a:pPr>
              <a:defRPr sz="730">
                <a:solidFill>
                  <a:srgbClr val="0F172A"/>
                </a:solidFill>
              </a:defRPr>
            </a:pPr>
            <a:r>
              <a:t>    Minimum numeral height based on net quantity &amp; PDP area</a:t>
            </a:r>
          </a:p>
          <a:p>
            <a:pPr>
              <a:defRPr sz="780" b="1">
                <a:solidFill>
                  <a:srgbClr val="0A3663"/>
                </a:solidFill>
              </a:defRPr>
            </a:pPr>
            <a:r>
              <a:t>✔ Rule 13(4-5): </a:t>
            </a:r>
          </a:p>
          <a:p>
            <a:pPr>
              <a:defRPr sz="730">
                <a:solidFill>
                  <a:srgbClr val="0F172A"/>
                </a:solidFill>
              </a:defRPr>
            </a:pPr>
            <a:r>
              <a:t>    Strict SI units: g, kg, ml, l. Blocks 'gm', 'gms', 'dozen'</a:t>
            </a:r>
          </a:p>
          <a:p>
            <a:pPr>
              <a:defRPr sz="780" b="1">
                <a:solidFill>
                  <a:srgbClr val="0A3663"/>
                </a:solidFill>
              </a:defRPr>
            </a:pPr>
            <a:r>
              <a:t>✔ Rule 18(5): </a:t>
            </a:r>
          </a:p>
          <a:p>
            <a:pPr>
              <a:defRPr sz="730">
                <a:solidFill>
                  <a:srgbClr val="0F172A"/>
                </a:solidFill>
              </a:defRPr>
            </a:pPr>
            <a:r>
              <a:t>    Detects unauthorized price stickers, smudging &amp; dual pricing</a:t>
            </a:r>
          </a:p>
          <a:p>
            <a:pPr>
              <a:defRPr sz="780" b="1">
                <a:solidFill>
                  <a:srgbClr val="0A3663"/>
                </a:solidFill>
              </a:defRPr>
            </a:pPr>
            <a:r>
              <a:t>✔ Second Schedule: </a:t>
            </a:r>
          </a:p>
          <a:p>
            <a:pPr>
              <a:defRPr sz="730">
                <a:solidFill>
                  <a:srgbClr val="0F172A"/>
                </a:solidFill>
              </a:defRPr>
            </a:pPr>
            <a:r>
              <a:t>    Validates mandatory standard pack sizes across 19 categories</a:t>
            </a:r>
          </a:p>
          <a:p>
            <a:pPr>
              <a:defRPr sz="780" b="1">
                <a:solidFill>
                  <a:srgbClr val="0A3663"/>
                </a:solidFill>
              </a:defRPr>
            </a:pPr>
            <a:r>
              <a:t>✔ First Schedule: </a:t>
            </a:r>
          </a:p>
          <a:p>
            <a:pPr>
              <a:defRPr sz="730">
                <a:solidFill>
                  <a:srgbClr val="0F172A"/>
                </a:solidFill>
              </a:defRPr>
            </a:pPr>
            <a:r>
              <a:t>    Calculates Maximum Permissible Error (MPE) allowable deficiency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3663"/>
          </a:solidFill>
          <a:ln>
            <a:solidFill>
              <a:srgbClr val="0A3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64592"/>
            <a:ext cx="210312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A3663"/>
                </a:solidFill>
              </a:defRPr>
            </a:pPr>
            <a:r>
              <a:t>Team: Neural Knights</a:t>
            </a:r>
          </a:p>
          <a:p>
            <a:pPr algn="ctr">
              <a:defRPr sz="800">
                <a:solidFill>
                  <a:srgbClr val="64748B"/>
                </a:solidFill>
              </a:defRPr>
            </a:pPr>
            <a:r>
              <a:t>CBIT, Hyderabad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51760" y="137160"/>
            <a:ext cx="6949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FEASIBILITY AND VIABILITY</a:t>
            </a:r>
          </a:p>
          <a:p>
            <a:pPr>
              <a:defRPr sz="950">
                <a:solidFill>
                  <a:srgbClr val="BEDCFF"/>
                </a:solidFill>
              </a:defRPr>
            </a:pPr>
            <a:r>
              <a:t>Feasibility Analysis • Field Challenges &amp; Risks • Engineered Mitigations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164592"/>
            <a:ext cx="201168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4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4F9E"/>
                </a:solidFill>
              </a:defRPr>
            </a:pPr>
            <a:r>
              <a:t>SMART INDIA</a:t>
            </a:r>
          </a:p>
          <a:p>
            <a:pPr algn="ctr">
              <a:defRPr sz="850" b="1">
                <a:solidFill>
                  <a:srgbClr val="0A3663"/>
                </a:solidFill>
              </a:defRPr>
            </a:pPr>
            <a:r>
              <a:t>HACKATHON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F9E"/>
          </a:solidFill>
          <a:ln>
            <a:solidFill>
              <a:srgbClr val="004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>
                <a:solidFill>
                  <a:srgbClr val="FFFFFF"/>
                </a:solidFill>
              </a:defRPr>
            </a:pPr>
            <a:r>
              <a:t>@SIH Idea submission - Template  |  INSPACK: Software System to check compliance of Packaged Commodities (LMPC Rules, 2011)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4F9E"/>
                </a:solidFill>
              </a:defRPr>
            </a:pPr>
            <a:r>
              <a:t>❖ Analysis of feasibility  •  Potential challenges and risks  •  Strategies for overcoming these challenges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508760"/>
            <a:ext cx="365760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A3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0A3663"/>
                </a:solidFill>
              </a:defRPr>
            </a:pPr>
            <a:r>
              <a:t>TECHNICAL FEASIBILITY</a:t>
            </a:r>
          </a:p>
          <a:p>
            <a:pPr>
              <a:defRPr sz="800">
                <a:solidFill>
                  <a:srgbClr val="0F172A"/>
                </a:solidFill>
              </a:defRPr>
            </a:pPr>
            <a:r>
              <a:t>• Runs on standard smartphones &amp; tablets.</a:t>
            </a:r>
          </a:p>
          <a:p>
            <a:pPr>
              <a:defRPr sz="800">
                <a:solidFill>
                  <a:srgbClr val="0F172A"/>
                </a:solidFill>
              </a:defRPr>
            </a:pPr>
            <a:r>
              <a:t>• No proprietary optical or laser hardware needed.</a:t>
            </a:r>
          </a:p>
          <a:p>
            <a:pPr>
              <a:defRPr sz="800">
                <a:solidFill>
                  <a:srgbClr val="0F172A"/>
                </a:solidFill>
              </a:defRPr>
            </a:pPr>
            <a:r>
              <a:t>• Dual-engine: Cloud Vision + 100% offline edge OCR.</a:t>
            </a:r>
          </a:p>
          <a:p>
            <a:pPr>
              <a:defRPr sz="800">
                <a:solidFill>
                  <a:srgbClr val="0F172A"/>
                </a:solidFill>
              </a:defRPr>
            </a:pPr>
            <a:r>
              <a:t>• Deterministic rule engine prevents AI hallucinations.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508760"/>
            <a:ext cx="365760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0F766E"/>
                </a:solidFill>
              </a:defRPr>
            </a:pPr>
            <a:r>
              <a:t>OPERATIONAL FEASIBILITY</a:t>
            </a:r>
          </a:p>
          <a:p>
            <a:pPr>
              <a:defRPr sz="800">
                <a:solidFill>
                  <a:srgbClr val="0F172A"/>
                </a:solidFill>
              </a:defRPr>
            </a:pPr>
            <a:r>
              <a:t>• Intuitive 3-step officer workflow: Aim ➔ Scan ➔ Dossier.</a:t>
            </a:r>
          </a:p>
          <a:p>
            <a:pPr>
              <a:defRPr sz="800">
                <a:solidFill>
                  <a:srgbClr val="0F172A"/>
                </a:solidFill>
              </a:defRPr>
            </a:pPr>
            <a:r>
              <a:t>• On-screen bounding boxes enable instant visual review.</a:t>
            </a:r>
          </a:p>
          <a:p>
            <a:pPr>
              <a:defRPr sz="800">
                <a:solidFill>
                  <a:srgbClr val="0F172A"/>
                </a:solidFill>
              </a:defRPr>
            </a:pPr>
            <a:r>
              <a:t>• Eliminates 20+ mins of manual measuring &amp; paperwork.</a:t>
            </a:r>
          </a:p>
          <a:p>
            <a:pPr>
              <a:defRPr sz="800">
                <a:solidFill>
                  <a:srgbClr val="0F172A"/>
                </a:solidFill>
              </a:defRPr>
            </a:pPr>
            <a:r>
              <a:t>• Outputs official Seventh Schedule Form A/B sheets.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508760"/>
            <a:ext cx="365760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4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004F9E"/>
                </a:solidFill>
              </a:defRPr>
            </a:pPr>
            <a:r>
              <a:t>ECONOMIC &amp; ROLLOUT VIABILITY</a:t>
            </a:r>
          </a:p>
          <a:p>
            <a:pPr>
              <a:defRPr sz="800">
                <a:solidFill>
                  <a:srgbClr val="0F172A"/>
                </a:solidFill>
              </a:defRPr>
            </a:pPr>
            <a:r>
              <a:t>• Zero new field hardware expenditure (CapEx).</a:t>
            </a:r>
          </a:p>
          <a:p>
            <a:pPr>
              <a:defRPr sz="800">
                <a:solidFill>
                  <a:srgbClr val="0F172A"/>
                </a:solidFill>
              </a:defRPr>
            </a:pPr>
            <a:r>
              <a:t>• Officers use existing government mobile devices.</a:t>
            </a:r>
          </a:p>
          <a:p>
            <a:pPr>
              <a:defRPr sz="800">
                <a:solidFill>
                  <a:srgbClr val="0F172A"/>
                </a:solidFill>
              </a:defRPr>
            </a:pPr>
            <a:r>
              <a:t>• Phased rollout: State retail pilot ➔ Pan-India.</a:t>
            </a:r>
          </a:p>
          <a:p>
            <a:pPr>
              <a:defRPr sz="800">
                <a:solidFill>
                  <a:srgbClr val="0F172A"/>
                </a:solidFill>
              </a:defRPr>
            </a:pPr>
            <a:r>
              <a:t>• Massive cost &amp; time savings across inspection zones.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3840480"/>
            <a:ext cx="11430000" cy="2560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A3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A3663"/>
                </a:solidFill>
              </a:defRPr>
            </a:pPr>
            <a:r>
              <a:t>REAL-WORLD FIELD CHALLENGES &amp; DEMONSTRATED MITIGATIONS</a:t>
            </a:r>
          </a:p>
          <a:p>
            <a:pPr>
              <a:defRPr sz="850" b="1">
                <a:solidFill>
                  <a:srgbClr val="DC2626"/>
                </a:solidFill>
              </a:defRPr>
            </a:pPr>
            <a:r>
              <a:t>⚠ Poor Lighting &amp; Blurry Photos ──► </a:t>
            </a:r>
          </a:p>
          <a:p>
            <a:pPr>
              <a:defRPr sz="780">
                <a:solidFill>
                  <a:srgbClr val="0F172A"/>
                </a:solidFill>
              </a:defRPr>
            </a:pPr>
            <a:r>
              <a:t>    Problem: Low retail lighting or shaky hands cause OCR failure. | Solution: Laplacian gradient sharpness filter tests image clarity on HTML5 canvas before running extraction. Warns officer if blurry.</a:t>
            </a:r>
          </a:p>
          <a:p>
            <a:pPr>
              <a:defRPr sz="850" b="1">
                <a:solidFill>
                  <a:srgbClr val="DC2626"/>
                </a:solidFill>
              </a:defRPr>
            </a:pPr>
            <a:r>
              <a:t>⚠ Zero Network in Rural Mandis ──► </a:t>
            </a:r>
          </a:p>
          <a:p>
            <a:pPr>
              <a:defRPr sz="780">
                <a:solidFill>
                  <a:srgbClr val="0F172A"/>
                </a:solidFill>
              </a:defRPr>
            </a:pPr>
            <a:r>
              <a:t>    Problem: Field inspections occur in remote godowns without 4G/5G. | Solution: Client-side Tesseract.js Web Worker + LocalStorage vault enables 100% offline inspection and queue-based cloud sync.</a:t>
            </a:r>
          </a:p>
          <a:p>
            <a:pPr>
              <a:defRPr sz="850" b="1">
                <a:solidFill>
                  <a:srgbClr val="DC2626"/>
                </a:solidFill>
              </a:defRPr>
            </a:pPr>
            <a:r>
              <a:t>⚠ Curved &amp; Crinkled Packaging ──► </a:t>
            </a:r>
          </a:p>
          <a:p>
            <a:pPr>
              <a:defRPr sz="780">
                <a:solidFill>
                  <a:srgbClr val="0F172A"/>
                </a:solidFill>
              </a:defRPr>
            </a:pPr>
            <a:r>
              <a:t>    Problem: Labels on pouches and bottles wrap around edges. | Solution: Multi-view panel acquisition (Front, Back, Side) segments text across multiple views, preserving label integrity.</a:t>
            </a:r>
          </a:p>
          <a:p>
            <a:pPr>
              <a:defRPr sz="850" b="1">
                <a:solidFill>
                  <a:srgbClr val="DC2626"/>
                </a:solidFill>
              </a:defRPr>
            </a:pPr>
            <a:r>
              <a:t>⚠ Changing Gazette Rules &amp; Fines ──► </a:t>
            </a:r>
          </a:p>
          <a:p>
            <a:pPr>
              <a:defRPr sz="780">
                <a:solidFill>
                  <a:srgbClr val="0F172A"/>
                </a:solidFill>
              </a:defRPr>
            </a:pPr>
            <a:r>
              <a:t>    Problem: Legal metrology rules and compounding fines evolve over time. | Solution: Dynamic Rule Configuration Engine allows departmental administrators to update fines, rules, and schedules without rewriting software.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3663"/>
          </a:solidFill>
          <a:ln>
            <a:solidFill>
              <a:srgbClr val="0A3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64592"/>
            <a:ext cx="210312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A3663"/>
                </a:solidFill>
              </a:defRPr>
            </a:pPr>
            <a:r>
              <a:t>Team: Neural Knights</a:t>
            </a:r>
          </a:p>
          <a:p>
            <a:pPr algn="ctr">
              <a:defRPr sz="800">
                <a:solidFill>
                  <a:srgbClr val="64748B"/>
                </a:solidFill>
              </a:defRPr>
            </a:pPr>
            <a:r>
              <a:t>CBIT, Hyderabad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51760" y="137160"/>
            <a:ext cx="6949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IMPACT AND BENEFITS</a:t>
            </a:r>
          </a:p>
          <a:p>
            <a:pPr>
              <a:defRPr sz="950">
                <a:solidFill>
                  <a:srgbClr val="BEDCFF"/>
                </a:solidFill>
              </a:defRPr>
            </a:pPr>
            <a:r>
              <a:t>Stakeholder Impacts • Workflow Comparison • Before vs. After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164592"/>
            <a:ext cx="201168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4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4F9E"/>
                </a:solidFill>
              </a:defRPr>
            </a:pPr>
            <a:r>
              <a:t>SMART INDIA</a:t>
            </a:r>
          </a:p>
          <a:p>
            <a:pPr algn="ctr">
              <a:defRPr sz="850" b="1">
                <a:solidFill>
                  <a:srgbClr val="0A3663"/>
                </a:solidFill>
              </a:defRPr>
            </a:pPr>
            <a:r>
              <a:t>HACKATHON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F9E"/>
          </a:solidFill>
          <a:ln>
            <a:solidFill>
              <a:srgbClr val="004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>
                <a:solidFill>
                  <a:srgbClr val="FFFFFF"/>
                </a:solidFill>
              </a:defRPr>
            </a:pPr>
            <a:r>
              <a:t>@SIH Idea submission - Template  |  INSPACK: Software System to check compliance of Packaged Commodities (LMPC Rules, 2011)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4F9E"/>
                </a:solidFill>
              </a:defRPr>
            </a:pPr>
            <a:r>
              <a:t>❖ Potential impact on the target audience  •  Benefits of the solution (social, economic, environmental, etc.)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508760"/>
            <a:ext cx="5486400" cy="4892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A3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A3663"/>
                </a:solidFill>
              </a:defRPr>
            </a:pPr>
            <a:r>
              <a:t>MULTI-STAKEHOLDER IMPACT ECOSYSTEM</a:t>
            </a:r>
          </a:p>
          <a:p>
            <a:pPr>
              <a:defRPr sz="850" b="1">
                <a:solidFill>
                  <a:srgbClr val="004F9E"/>
                </a:solidFill>
              </a:defRPr>
            </a:pPr>
            <a:r>
              <a:t>👮 FOR LEGAL METROLOGY OFFICERS</a:t>
            </a:r>
          </a:p>
          <a:p>
            <a:pPr>
              <a:defRPr sz="780">
                <a:solidFill>
                  <a:srgbClr val="0F172A"/>
                </a:solidFill>
              </a:defRPr>
            </a:pPr>
            <a:r>
              <a:t>  • Reduces inspection time from 25 mins to under 60 seconds.</a:t>
            </a:r>
          </a:p>
          <a:p>
            <a:pPr>
              <a:defRPr sz="780">
                <a:solidFill>
                  <a:srgbClr val="0F172A"/>
                </a:solidFill>
              </a:defRPr>
            </a:pPr>
            <a:r>
              <a:t>  • Eliminates manual letter-height calipers &amp; handwritten forms.</a:t>
            </a:r>
          </a:p>
          <a:p>
            <a:pPr>
              <a:defRPr sz="780">
                <a:solidFill>
                  <a:srgbClr val="0F172A"/>
                </a:solidFill>
              </a:defRPr>
            </a:pPr>
            <a:r>
              <a:t>  • Provides court-ready Seventh Schedule Form A &amp; B dossiers.</a:t>
            </a:r>
          </a:p>
          <a:p>
            <a:pPr>
              <a:defRPr sz="850" b="1">
                <a:solidFill>
                  <a:srgbClr val="0F766E"/>
                </a:solidFill>
              </a:defRPr>
            </a:pPr>
            <a:r>
              <a:t>🛒 FOR CONSUMERS &amp; CITIZENS</a:t>
            </a:r>
          </a:p>
          <a:p>
            <a:pPr>
              <a:defRPr sz="780">
                <a:solidFill>
                  <a:srgbClr val="0F172A"/>
                </a:solidFill>
              </a:defRPr>
            </a:pPr>
            <a:r>
              <a:t>  • Protects against stealth shrinkflation &amp; non-standard pack sizes.</a:t>
            </a:r>
          </a:p>
          <a:p>
            <a:pPr>
              <a:defRPr sz="780">
                <a:solidFill>
                  <a:srgbClr val="0F172A"/>
                </a:solidFill>
              </a:defRPr>
            </a:pPr>
            <a:r>
              <a:t>  • Eliminates unauthorized sticker price hikes &amp; hidden dual pricing.</a:t>
            </a:r>
          </a:p>
          <a:p>
            <a:pPr>
              <a:defRPr sz="780">
                <a:solidFill>
                  <a:srgbClr val="0F172A"/>
                </a:solidFill>
              </a:defRPr>
            </a:pPr>
            <a:r>
              <a:t>  • 1-tap grievance filing to National Consumer Helpline (NCH 1915).</a:t>
            </a:r>
          </a:p>
          <a:p>
            <a:pPr>
              <a:defRPr sz="850" b="1">
                <a:solidFill>
                  <a:srgbClr val="D97706"/>
                </a:solidFill>
              </a:defRPr>
            </a:pPr>
            <a:r>
              <a:t>🏭 FOR FMCG BRANDS &amp; PACKERS</a:t>
            </a:r>
          </a:p>
          <a:p>
            <a:pPr>
              <a:defRPr sz="780">
                <a:solidFill>
                  <a:srgbClr val="0F172A"/>
                </a:solidFill>
              </a:defRPr>
            </a:pPr>
            <a:r>
              <a:t>  • Brand Pre-Check Portal audits artwork before printing wrappers.</a:t>
            </a:r>
          </a:p>
          <a:p>
            <a:pPr>
              <a:defRPr sz="780">
                <a:solidFill>
                  <a:srgbClr val="0F172A"/>
                </a:solidFill>
              </a:defRPr>
            </a:pPr>
            <a:r>
              <a:t>  • Prevents expensive market product seizures and packaging recalls.</a:t>
            </a:r>
          </a:p>
          <a:p>
            <a:pPr>
              <a:defRPr sz="780">
                <a:solidFill>
                  <a:srgbClr val="0F172A"/>
                </a:solidFill>
              </a:defRPr>
            </a:pPr>
            <a:r>
              <a:t>  • Promotes transparent, standardized compliance across the supply chain.</a:t>
            </a:r>
          </a:p>
          <a:p>
            <a:pPr>
              <a:defRPr sz="850" b="1">
                <a:solidFill>
                  <a:srgbClr val="0A3663"/>
                </a:solidFill>
              </a:defRPr>
            </a:pPr>
            <a:r>
              <a:t>🏛️ FOR MINISTRY &amp; DIRECTORATE</a:t>
            </a:r>
          </a:p>
          <a:p>
            <a:pPr>
              <a:defRPr sz="780">
                <a:solidFill>
                  <a:srgbClr val="0F172A"/>
                </a:solidFill>
              </a:defRPr>
            </a:pPr>
            <a:r>
              <a:t>  • National Surveillance Hub aggregates state-wise violation trends.</a:t>
            </a:r>
          </a:p>
          <a:p>
            <a:pPr>
              <a:defRPr sz="780">
                <a:solidFill>
                  <a:srgbClr val="0F172A"/>
                </a:solidFill>
              </a:defRPr>
            </a:pPr>
            <a:r>
              <a:t>  • Identifies repeat offender brands and high-risk commodity classes.</a:t>
            </a:r>
          </a:p>
          <a:p>
            <a:pPr>
              <a:defRPr sz="780">
                <a:solidFill>
                  <a:srgbClr val="0F172A"/>
                </a:solidFill>
              </a:defRPr>
            </a:pPr>
            <a:r>
              <a:t>  • Empowers data-driven policy amendments with empirical evidence.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508760"/>
            <a:ext cx="5760720" cy="48920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04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4F9E"/>
                </a:solidFill>
              </a:defRPr>
            </a:pPr>
            <a:r>
              <a:t>WORKFLOW COMPARISON: MANUAL VS. INSPACK</a:t>
            </a:r>
          </a:p>
          <a:p>
            <a:pPr>
              <a:defRPr sz="800" b="1">
                <a:solidFill>
                  <a:srgbClr val="0A3663"/>
                </a:solidFill>
              </a:defRPr>
            </a:pPr>
            <a:r>
              <a:t>◈ Information Capture:</a:t>
            </a:r>
          </a:p>
          <a:p>
            <a:pPr>
              <a:defRPr sz="730">
                <a:solidFill>
                  <a:srgbClr val="DC2626"/>
                </a:solidFill>
              </a:defRPr>
            </a:pPr>
            <a:r>
              <a:t>   Manual: Manual inspection with magnifying glass &amp; ruler (Slow, visual fatigue)</a:t>
            </a:r>
          </a:p>
          <a:p>
            <a:pPr>
              <a:defRPr sz="730">
                <a:solidFill>
                  <a:srgbClr val="16A34A"/>
                </a:solidFill>
              </a:defRPr>
            </a:pPr>
            <a:r>
              <a:t>   INSPACK: Automated multi-panel photo capture (Front, Back, Side)</a:t>
            </a:r>
          </a:p>
          <a:p>
            <a:pPr>
              <a:defRPr sz="800" b="1">
                <a:solidFill>
                  <a:srgbClr val="0A3663"/>
                </a:solidFill>
              </a:defRPr>
            </a:pPr>
            <a:r>
              <a:t>◈ Rule Verification:</a:t>
            </a:r>
          </a:p>
          <a:p>
            <a:pPr>
              <a:defRPr sz="730">
                <a:solidFill>
                  <a:srgbClr val="DC2626"/>
                </a:solidFill>
              </a:defRPr>
            </a:pPr>
            <a:r>
              <a:t>   Manual: Cross-referencing multiple gazette books &amp; tables manually</a:t>
            </a:r>
          </a:p>
          <a:p>
            <a:pPr>
              <a:defRPr sz="730">
                <a:solidFill>
                  <a:srgbClr val="16A34A"/>
                </a:solidFill>
              </a:defRPr>
            </a:pPr>
            <a:r>
              <a:t>   INSPACK: Instant deterministic rule validation across all LMPC clauses</a:t>
            </a:r>
          </a:p>
          <a:p>
            <a:pPr>
              <a:defRPr sz="800" b="1">
                <a:solidFill>
                  <a:srgbClr val="0A3663"/>
                </a:solidFill>
              </a:defRPr>
            </a:pPr>
            <a:r>
              <a:t>◈ Numeral Height Check:</a:t>
            </a:r>
          </a:p>
          <a:p>
            <a:pPr>
              <a:defRPr sz="730">
                <a:solidFill>
                  <a:srgbClr val="DC2626"/>
                </a:solidFill>
              </a:defRPr>
            </a:pPr>
            <a:r>
              <a:t>   Manual: Manual measurement with plastic calipers (Subjective)</a:t>
            </a:r>
          </a:p>
          <a:p>
            <a:pPr>
              <a:defRPr sz="730">
                <a:solidFill>
                  <a:srgbClr val="16A34A"/>
                </a:solidFill>
              </a:defRPr>
            </a:pPr>
            <a:r>
              <a:t>   INSPACK: Automated comparison against Table I minimum standards</a:t>
            </a:r>
          </a:p>
          <a:p>
            <a:pPr>
              <a:defRPr sz="800" b="1">
                <a:solidFill>
                  <a:srgbClr val="0A3663"/>
                </a:solidFill>
              </a:defRPr>
            </a:pPr>
            <a:r>
              <a:t>◈ Tampered Price Check:</a:t>
            </a:r>
          </a:p>
          <a:p>
            <a:pPr>
              <a:defRPr sz="730">
                <a:solidFill>
                  <a:srgbClr val="DC2626"/>
                </a:solidFill>
              </a:defRPr>
            </a:pPr>
            <a:r>
              <a:t>   Manual: Hard to detect subtle sticker alterations in dim lighting</a:t>
            </a:r>
          </a:p>
          <a:p>
            <a:pPr>
              <a:defRPr sz="730">
                <a:solidFill>
                  <a:srgbClr val="16A34A"/>
                </a:solidFill>
              </a:defRPr>
            </a:pPr>
            <a:r>
              <a:t>   INSPACK: Automated detection of glued price stickers &amp; dual pricing (Rule 18)</a:t>
            </a:r>
          </a:p>
          <a:p>
            <a:pPr>
              <a:defRPr sz="800" b="1">
                <a:solidFill>
                  <a:srgbClr val="0A3663"/>
                </a:solidFill>
              </a:defRPr>
            </a:pPr>
            <a:r>
              <a:t>◈ Pack Size Audit:</a:t>
            </a:r>
          </a:p>
          <a:p>
            <a:pPr>
              <a:defRPr sz="730">
                <a:solidFill>
                  <a:srgbClr val="DC2626"/>
                </a:solidFill>
              </a:defRPr>
            </a:pPr>
            <a:r>
              <a:t>   Manual: Officer memorizes allowed sizes across 19 categories</a:t>
            </a:r>
          </a:p>
          <a:p>
            <a:pPr>
              <a:defRPr sz="730">
                <a:solidFill>
                  <a:srgbClr val="16A34A"/>
                </a:solidFill>
              </a:defRPr>
            </a:pPr>
            <a:r>
              <a:t>   INSPACK: Instant validation against Second Schedule standard pack sizes</a:t>
            </a:r>
          </a:p>
          <a:p>
            <a:pPr>
              <a:defRPr sz="800" b="1">
                <a:solidFill>
                  <a:srgbClr val="0A3663"/>
                </a:solidFill>
              </a:defRPr>
            </a:pPr>
            <a:r>
              <a:t>◈ Report Preparation:</a:t>
            </a:r>
          </a:p>
          <a:p>
            <a:pPr>
              <a:defRPr sz="730">
                <a:solidFill>
                  <a:srgbClr val="DC2626"/>
                </a:solidFill>
              </a:defRPr>
            </a:pPr>
            <a:r>
              <a:t>   Manual: Handwritten Form A/B sheets &amp; seizure memos (20-30 mins)</a:t>
            </a:r>
          </a:p>
          <a:p>
            <a:pPr>
              <a:defRPr sz="730">
                <a:solidFill>
                  <a:srgbClr val="16A34A"/>
                </a:solidFill>
              </a:defRPr>
            </a:pPr>
            <a:r>
              <a:t>   INSPACK: Instant 1-click Seventh Schedule Form A/B PDF (&lt; 60 secs)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3663"/>
          </a:solidFill>
          <a:ln>
            <a:solidFill>
              <a:srgbClr val="0A3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64592"/>
            <a:ext cx="210312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A3663"/>
                </a:solidFill>
              </a:defRPr>
            </a:pPr>
            <a:r>
              <a:t>Team: Neural Knights</a:t>
            </a:r>
          </a:p>
          <a:p>
            <a:pPr algn="ctr">
              <a:defRPr sz="800">
                <a:solidFill>
                  <a:srgbClr val="64748B"/>
                </a:solidFill>
              </a:defRPr>
            </a:pPr>
            <a:r>
              <a:t>CBIT, Hyderabad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51760" y="137160"/>
            <a:ext cx="6949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RESEARCH AND REFERENCES</a:t>
            </a:r>
          </a:p>
          <a:p>
            <a:pPr>
              <a:defRPr sz="950">
                <a:solidFill>
                  <a:srgbClr val="BEDCFF"/>
                </a:solidFill>
              </a:defRPr>
            </a:pPr>
            <a:r>
              <a:t>Statutory Frameworks • Schedules &amp; Forms • Evidence Standards • Live Prototype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164592"/>
            <a:ext cx="201168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4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4F9E"/>
                </a:solidFill>
              </a:defRPr>
            </a:pPr>
            <a:r>
              <a:t>SMART INDIA</a:t>
            </a:r>
          </a:p>
          <a:p>
            <a:pPr algn="ctr">
              <a:defRPr sz="850" b="1">
                <a:solidFill>
                  <a:srgbClr val="0A3663"/>
                </a:solidFill>
              </a:defRPr>
            </a:pPr>
            <a:r>
              <a:t>HACKATHON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F9E"/>
          </a:solidFill>
          <a:ln>
            <a:solidFill>
              <a:srgbClr val="004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>
                <a:solidFill>
                  <a:srgbClr val="FFFFFF"/>
                </a:solidFill>
              </a:defRPr>
            </a:pPr>
            <a:r>
              <a:t>@SIH Idea submission - Template  |  INSPACK: Software System to check compliance of Packaged Commodities (LMPC Rules, 2011)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4F9E"/>
                </a:solidFill>
              </a:defRPr>
            </a:pPr>
            <a:r>
              <a:t>❖ Details / Links of the reference and research work  •  Authentic Statutory Foundations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508760"/>
            <a:ext cx="557784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A3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A3663"/>
                </a:solidFill>
              </a:defRPr>
            </a:pPr>
            <a:r>
              <a:t>📜 STATUTORY ACTS &amp; LEGISLATION</a:t>
            </a:r>
          </a:p>
          <a:p>
            <a:pPr>
              <a:defRPr sz="780" b="1">
                <a:solidFill>
                  <a:srgbClr val="0A3663"/>
                </a:solidFill>
              </a:defRPr>
            </a:pPr>
            <a:r>
              <a:t>• The Legal Metrology Act, 2009 (Act No. 1 of 2010): </a:t>
            </a:r>
          </a:p>
          <a:p>
            <a:pPr>
              <a:defRPr sz="720">
                <a:solidFill>
                  <a:srgbClr val="0F172A"/>
                </a:solidFill>
              </a:defRPr>
            </a:pPr>
            <a:r>
              <a:t>   Statutory authority for powers of inspection, search &amp; seizure (Sec 15), non-standard package penalties (Sec 36), and compounding of offences (Sec 48).</a:t>
            </a:r>
          </a:p>
          <a:p>
            <a:pPr>
              <a:defRPr sz="780" b="1">
                <a:solidFill>
                  <a:srgbClr val="0A3663"/>
                </a:solidFill>
              </a:defRPr>
            </a:pPr>
            <a:r>
              <a:t>• LMPC Rules, 2011 (Gazette of India): </a:t>
            </a:r>
          </a:p>
          <a:p>
            <a:pPr>
              <a:defRPr sz="720">
                <a:solidFill>
                  <a:srgbClr val="0F172A"/>
                </a:solidFill>
              </a:defRPr>
            </a:pPr>
            <a:r>
              <a:t>   Comprehensive statutory code prescribing mandatory package declarations, Principal Display Panel geometry, and enforcement schedules.</a:t>
            </a:r>
          </a:p>
          <a:p>
            <a:pPr>
              <a:defRPr sz="780" b="1">
                <a:solidFill>
                  <a:srgbClr val="0A3663"/>
                </a:solidFill>
              </a:defRPr>
            </a:pPr>
            <a:r>
              <a:t>• GSR 779(E) &amp; 2021 Amendments: </a:t>
            </a:r>
          </a:p>
          <a:p>
            <a:pPr>
              <a:defRPr sz="720">
                <a:solidFill>
                  <a:srgbClr val="0F172A"/>
                </a:solidFill>
              </a:defRPr>
            </a:pPr>
            <a:r>
              <a:t>   Mandated statutory Unit Sale Price (USP) declarations and e-commerce digital display requirements on dark store platforms.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508760"/>
            <a:ext cx="557784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F766E"/>
                </a:solidFill>
              </a:defRPr>
            </a:pPr>
            <a:r>
              <a:t>📑 SCHEDULES &amp; PRESCRIBED FORMS</a:t>
            </a:r>
          </a:p>
          <a:p>
            <a:pPr>
              <a:defRPr sz="780" b="1">
                <a:solidFill>
                  <a:srgbClr val="0A3663"/>
                </a:solidFill>
              </a:defRPr>
            </a:pPr>
            <a:r>
              <a:t>• Seventh Schedule [Rule 19(2)] - Form A: </a:t>
            </a:r>
          </a:p>
          <a:p>
            <a:pPr>
              <a:defRPr sz="720">
                <a:solidFill>
                  <a:srgbClr val="0F172A"/>
                </a:solidFill>
              </a:defRPr>
            </a:pPr>
            <a:r>
              <a:t>   Official statutory format for Weight Checking Data Sheet, tare calculation, and tripartite signatures.</a:t>
            </a:r>
          </a:p>
          <a:p>
            <a:pPr>
              <a:defRPr sz="780" b="1">
                <a:solidFill>
                  <a:srgbClr val="0A3663"/>
                </a:solidFill>
              </a:defRPr>
            </a:pPr>
            <a:r>
              <a:t>• Seventh Schedule [Rule 19(2)] - Form B: </a:t>
            </a:r>
          </a:p>
          <a:p>
            <a:pPr>
              <a:defRPr sz="720">
                <a:solidFill>
                  <a:srgbClr val="0F172A"/>
                </a:solidFill>
              </a:defRPr>
            </a:pPr>
            <a:r>
              <a:t>   Official statutory format for Volume and Measure Checking Data Sheet for liquid/fluid commodities.</a:t>
            </a:r>
          </a:p>
          <a:p>
            <a:pPr>
              <a:defRPr sz="780" b="1">
                <a:solidFill>
                  <a:srgbClr val="0A3663"/>
                </a:solidFill>
              </a:defRPr>
            </a:pPr>
            <a:r>
              <a:t>• Second Schedule [Rule 5]: </a:t>
            </a:r>
          </a:p>
          <a:p>
            <a:pPr>
              <a:defRPr sz="720">
                <a:solidFill>
                  <a:srgbClr val="0F172A"/>
                </a:solidFill>
              </a:defRPr>
            </a:pPr>
            <a:r>
              <a:t>   Mandatory standard packaging quantities across 19 commodity classes (Biscuits, Edible Oils, Tea, Rice, etc.).</a:t>
            </a:r>
          </a:p>
          <a:p>
            <a:pPr>
              <a:defRPr sz="780" b="1">
                <a:solidFill>
                  <a:srgbClr val="0A3663"/>
                </a:solidFill>
              </a:defRPr>
            </a:pPr>
            <a:r>
              <a:t>• First Schedule [Rules 2(e) &amp; 22]: </a:t>
            </a:r>
          </a:p>
          <a:p>
            <a:pPr>
              <a:defRPr sz="720">
                <a:solidFill>
                  <a:srgbClr val="0F172A"/>
                </a:solidFill>
              </a:defRPr>
            </a:pPr>
            <a:r>
              <a:t>   Maximum Permissible Error (MPE) allowable deficiency tolerance tables.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931920"/>
            <a:ext cx="557784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4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4F9E"/>
                </a:solidFill>
              </a:defRPr>
            </a:pPr>
            <a:r>
              <a:t>⚖️ ELECTRONIC EVIDENCE &amp; ADMISSIBILITY</a:t>
            </a:r>
          </a:p>
          <a:p>
            <a:pPr>
              <a:defRPr sz="780" b="1">
                <a:solidFill>
                  <a:srgbClr val="0A3663"/>
                </a:solidFill>
              </a:defRPr>
            </a:pPr>
            <a:r>
              <a:t>• Section 65B Indian Evidence Act / BSA 2023: </a:t>
            </a:r>
          </a:p>
          <a:p>
            <a:pPr>
              <a:defRPr sz="720">
                <a:solidFill>
                  <a:srgbClr val="0F172A"/>
                </a:solidFill>
              </a:defRPr>
            </a:pPr>
            <a:r>
              <a:t>   Prescribes statutory certification for electronic records, cryptographic SHA-256 hash preservation, and tamper-evident image logs.</a:t>
            </a:r>
          </a:p>
          <a:p>
            <a:pPr>
              <a:defRPr sz="780" b="1">
                <a:solidFill>
                  <a:srgbClr val="0A3663"/>
                </a:solidFill>
              </a:defRPr>
            </a:pPr>
            <a:r>
              <a:t>• W3C Canvas &amp; Web Worker Standards: </a:t>
            </a:r>
          </a:p>
          <a:p>
            <a:pPr>
              <a:defRPr sz="720">
                <a:solidFill>
                  <a:srgbClr val="0F172A"/>
                </a:solidFill>
              </a:defRPr>
            </a:pPr>
            <a:r>
              <a:t>   Authoritative open web standards powering 100% offline, on-device image contrast optimization and edge OCR processing.</a:t>
            </a:r>
          </a:p>
          <a:p>
            <a:pPr>
              <a:defRPr sz="780" b="1">
                <a:solidFill>
                  <a:srgbClr val="0A3663"/>
                </a:solidFill>
              </a:defRPr>
            </a:pPr>
            <a:r>
              <a:t>• FSSAI Packaging Regulations, 2018: </a:t>
            </a:r>
          </a:p>
          <a:p>
            <a:pPr>
              <a:defRPr sz="720">
                <a:solidFill>
                  <a:srgbClr val="0F172A"/>
                </a:solidFill>
              </a:defRPr>
            </a:pPr>
            <a:r>
              <a:t>   Cross-referenced for front-of-pack synthetic color and artificial sweetener statutory warnings.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931920"/>
            <a:ext cx="557784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D97706"/>
                </a:solidFill>
              </a:defRPr>
            </a:pPr>
            <a:r>
              <a:t>🌐 HACKATHON ALIGNMENT &amp; LIVE PROTOTYPE</a:t>
            </a:r>
          </a:p>
          <a:p>
            <a:pPr>
              <a:defRPr sz="780" b="1">
                <a:solidFill>
                  <a:srgbClr val="0A3663"/>
                </a:solidFill>
              </a:defRPr>
            </a:pPr>
            <a:r>
              <a:t>• SIH 2026 Problem Statement ID: </a:t>
            </a:r>
          </a:p>
          <a:p>
            <a:pPr>
              <a:defRPr sz="720">
                <a:solidFill>
                  <a:srgbClr val="0F172A"/>
                </a:solidFill>
              </a:defRPr>
            </a:pPr>
            <a:r>
              <a:t>   SIH-26034 (Ministry of Consumer Affairs, Food &amp; Public Distribution — Legal Metrology Division).</a:t>
            </a:r>
          </a:p>
          <a:p>
            <a:pPr>
              <a:defRPr sz="780" b="1">
                <a:solidFill>
                  <a:srgbClr val="0A3663"/>
                </a:solidFill>
              </a:defRPr>
            </a:pPr>
            <a:r>
              <a:t>• Functional Live Web Prototype: </a:t>
            </a:r>
          </a:p>
          <a:p>
            <a:pPr>
              <a:defRPr sz="720">
                <a:solidFill>
                  <a:srgbClr val="0F172A"/>
                </a:solidFill>
              </a:defRPr>
            </a:pPr>
            <a:r>
              <a:t>   https://inspacknksih2026.vercel.app/ (Tested with benchmark retail commodities).</a:t>
            </a:r>
          </a:p>
          <a:p>
            <a:pPr>
              <a:defRPr sz="780" b="1">
                <a:solidFill>
                  <a:srgbClr val="0A3663"/>
                </a:solidFill>
              </a:defRPr>
            </a:pPr>
            <a:r>
              <a:t>• SIH Implementation Guidelines: </a:t>
            </a:r>
          </a:p>
          <a:p>
            <a:pPr>
              <a:defRPr sz="720">
                <a:solidFill>
                  <a:srgbClr val="0F172A"/>
                </a:solidFill>
              </a:defRPr>
            </a:pPr>
            <a:r>
              <a:t>   Grounded in government deployment maturity, open-source compliance, and sovereign data privacy standards.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